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Default Extension="xlsx" ContentType="application/vnd.openxmlformats-officedocument.spreadsheetml.sheet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fonts/Font_1_Pretendard_Regular.fntdata" ContentType="application/x-fontdata"/>
  <Override PartName="/ppt/fonts/Font_2_Pretendard_Bold.fntdata" ContentType="application/x-fontdata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presProps.xml" ContentType="application/vnd.openxmlformats-officedocument.presentationml.presProps+xml"/>
  <Override PartName="/ppt/media/image18.png" ContentType="image/png"/>
  <Override PartName="/ppt/media/image1.png" ContentType="image/png"/>
  <Override PartName="/ppt/media/image11.png" ContentType="image/png"/>
  <Override PartName="/ppt/media/image8.png" ContentType="image/png"/>
  <Override PartName="/ppt/media/image3.png" ContentType="image/png"/>
  <Override PartName="/ppt/media/image30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5" Type="http://schemas.openxmlformats.org/officeDocument/2006/relationships/custom-properties" Target="docProps/custom.xml"></Relationship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62" r:id="rId16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</p:sldIdLst>
  <p:sldSz cx="12192000" cy="6858000"/>
  <p:notesSz cx="7559675" cy="10692130"/>
  <p:embeddedFontLst>
    <p:embeddedFont>
      <p:font typeface="휴먼고딕" panose="" pitchFamily="3081472" charset="7210496"/>
    </p:embeddedFont>
    <p:embeddedFont>
      <p:font typeface="맑은 고딕" panose="" pitchFamily="1835409529" charset="1029990772"/>
    </p:embeddedFont>
    <p:embeddedFont>
      <p:font typeface="Pretendard Black" panose="" pitchFamily="-1135215728" charset="-640343676"/>
    </p:embeddedFont>
    <p:embeddedFont>
      <p:font typeface="Pretendard" panose="" pitchFamily="-1" charset="-1"/>
      <p:regular r:id="rId1"/>
      <p:bold r:id="rId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_1_Pretendard_Regular.fntdata"></Relationship><Relationship Id="rId2" Type="http://schemas.openxmlformats.org/officeDocument/2006/relationships/font" Target="fonts/Font_2_Pretendard_Bold.fntdata"></Relationship><Relationship Id="rId16" Type="http://schemas.openxmlformats.org/officeDocument/2006/relationships/slideMaster" Target="slideMasters/slideMaster1.xml"></Relationship><Relationship Id="rId17" Type="http://schemas.openxmlformats.org/officeDocument/2006/relationships/theme" Target="theme/theme1.xml"></Relationship><Relationship Id="rId18" Type="http://schemas.openxmlformats.org/officeDocument/2006/relationships/slide" Target="slides/slide1.xml"></Relationship><Relationship Id="rId19" Type="http://schemas.openxmlformats.org/officeDocument/2006/relationships/slide" Target="slides/slide2.xml"></Relationship><Relationship Id="rId20" Type="http://schemas.openxmlformats.org/officeDocument/2006/relationships/slide" Target="slides/slide3.xml"></Relationship><Relationship Id="rId21" Type="http://schemas.openxmlformats.org/officeDocument/2006/relationships/slide" Target="slides/slide4.xml"></Relationship><Relationship Id="rId22" Type="http://schemas.openxmlformats.org/officeDocument/2006/relationships/slide" Target="slides/slide5.xml"></Relationship><Relationship Id="rId23" Type="http://schemas.openxmlformats.org/officeDocument/2006/relationships/slide" Target="slides/slide6.xml"></Relationship><Relationship Id="rId24" Type="http://schemas.openxmlformats.org/officeDocument/2006/relationships/slide" Target="slides/slide7.xml"></Relationship><Relationship Id="rId25" Type="http://schemas.openxmlformats.org/officeDocument/2006/relationships/slide" Target="slides/slide8.xml"></Relationship><Relationship Id="rId26" Type="http://schemas.openxmlformats.org/officeDocument/2006/relationships/slide" Target="slides/slide9.xml"></Relationship><Relationship Id="rId27" Type="http://schemas.openxmlformats.org/officeDocument/2006/relationships/slide" Target="slides/slide10.xml"></Relationship><Relationship Id="rId28" Type="http://schemas.openxmlformats.org/officeDocument/2006/relationships/slide" Target="slides/slide11.xml"></Relationship><Relationship Id="rId29" Type="http://schemas.openxmlformats.org/officeDocument/2006/relationships/slide" Target="slides/slide12.xml"></Relationship><Relationship Id="rId30" Type="http://schemas.openxmlformats.org/officeDocument/2006/relationships/slide" Target="slides/slide13.xml"></Relationship><Relationship Id="rId31" Type="http://schemas.openxmlformats.org/officeDocument/2006/relationships/slide" Target="slides/slide14.xml"></Relationship><Relationship Id="rId32" Type="http://schemas.openxmlformats.org/officeDocument/2006/relationships/slide" Target="slides/slide15.xml"></Relationship><Relationship Id="rId33" Type="http://schemas.openxmlformats.org/officeDocument/2006/relationships/slide" Target="slides/slide16.xml"></Relationship><Relationship Id="rId34" Type="http://schemas.openxmlformats.org/officeDocument/2006/relationships/slide" Target="slides/slide17.xml"></Relationship><Relationship Id="rId35" Type="http://schemas.openxmlformats.org/officeDocument/2006/relationships/slide" Target="slides/slide18.xml"></Relationship><Relationship Id="rId36" Type="http://schemas.openxmlformats.org/officeDocument/2006/relationships/slide" Target="slides/slide19.xml"></Relationship><Relationship Id="rId37" Type="http://schemas.openxmlformats.org/officeDocument/2006/relationships/slide" Target="slides/slide20.xml"></Relationship><Relationship Id="rId38" Type="http://schemas.openxmlformats.org/officeDocument/2006/relationships/presProps" Target="presProps.xml"></Relationship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72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BA9478-EDF9-4AB8-A02B-05038C1FF5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2720" cy="284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60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2720" cy="14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F51280-EBFB-4E33-91BD-6FD7F2D381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60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60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586501-9E36-49AB-BAA4-DD0C00D87F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4840" cy="82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4840" cy="36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400" cy="82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400" cy="36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EAC624-0BD5-4006-8D77-7D45ADBA25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제목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CE1B40-357D-4053-A661-6486C8B5EB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b="0" lang="ko-KR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b="0" lang="ko-KR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기본값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443BA7-3E4D-4B04-8F26-7ED806DEE5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b="0" lang="ko-KR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b="0" lang="ko-KR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4"/>
          <p:cNvSpPr/>
          <p:nvPr/>
        </p:nvSpPr>
        <p:spPr>
          <a:xfrm>
            <a:off x="10008000" y="6602400"/>
            <a:ext cx="2171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7396B6-4C54-425C-A07F-E93A032C20F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제목 텍스트의 서식을 편집하려면 클릭하십시오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개요 텍스트의 서식을 편집하려면 클릭하십시오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2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3</a:t>
            </a: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4</a:t>
            </a: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5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6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7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빈 화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"/>
          <p:cNvSpPr/>
          <p:nvPr/>
        </p:nvSpPr>
        <p:spPr>
          <a:xfrm>
            <a:off x="10008000" y="6602400"/>
            <a:ext cx="2171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chemeClr val="lt1"/>
                </a:solidFill>
                <a:effectLst/>
                <a:uFillTx/>
                <a:latin typeface="Arial"/>
                <a:ea typeface="Pretendard"/>
              </a:rPr>
              <a:t>ⓒSaebyeol Yu. Saebyeol’s PowerPoint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07CB0-2E3D-4117-82AD-C2DF66F8BC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400" cy="15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320" cy="487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400" cy="380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6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C63B66-4F4F-49E2-BD8E-94120BA6AF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120" cy="238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60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439290-005D-4D12-A0C2-AEAE0985E5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400" cy="15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320" cy="487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개요 텍스트의 서식을 편집하려면 클릭하십시오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2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3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4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5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6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7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Pretendard"/>
              </a:rPr>
              <a:t>번째 개요 수준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400" cy="380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6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026BAB-E97A-4E4F-BF86-996960C18D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72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723487-834A-4AA2-B493-8BE9806A02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200" cy="580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400" strike="noStrike" u="none">
                <a:solidFill>
                  <a:schemeClr val="dk1"/>
                </a:solidFill>
                <a:effectLst/>
                <a:uFillTx/>
                <a:latin typeface="Pretendard Black"/>
                <a:ea typeface="Pretendard Black"/>
              </a:rPr>
              <a:t>마스터 제목 스타일 편집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360" cy="580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마스터 텍스트 스타일을 편집하려면 클릭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두 번째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세 번째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네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다섯 번째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04C8AF-D410-4777-90A4-7166E13322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retendard"/>
                <a:ea typeface="Pretendar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3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0" y="18000"/>
            <a:ext cx="12189600" cy="68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5"/>
          <p:cNvSpPr/>
          <p:nvPr/>
        </p:nvSpPr>
        <p:spPr>
          <a:xfrm>
            <a:off x="281160" y="2515320"/>
            <a:ext cx="591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Full-Stack AI </a:t>
            </a:r>
            <a:r>
              <a:rPr b="0" lang="ko-KR" sz="1800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역량 시연을 위한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Intelligent Portfolio Platform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180000" y="6120000"/>
            <a:ext cx="3171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2025.11.26 2200358 </a:t>
            </a:r>
            <a:r>
              <a:rPr b="0" lang="ko-KR" sz="12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이효림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객체지향 프로그래밍 기말 프로젝트 발표 자료 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2</a:t>
            </a:r>
            <a:r>
              <a:rPr b="0" lang="ko-KR" sz="12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차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TextBox 24"/>
          <p:cNvSpPr/>
          <p:nvPr/>
        </p:nvSpPr>
        <p:spPr>
          <a:xfrm>
            <a:off x="348840" y="945720"/>
            <a:ext cx="594972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8fafc"/>
                </a:solidFill>
                <a:effectLst/>
                <a:uFillTx/>
                <a:latin typeface="Calibri"/>
                <a:ea typeface="Pretendard"/>
              </a:rPr>
              <a:t>TensorFlow</a:t>
            </a:r>
            <a:r>
              <a:rPr b="1" lang="ko-KR" sz="5400" strike="noStrike" u="none">
                <a:solidFill>
                  <a:srgbClr val="f8fafc"/>
                </a:solidFill>
                <a:effectLst/>
                <a:uFillTx/>
                <a:latin typeface="Calibri"/>
                <a:ea typeface="Pretendard"/>
              </a:rPr>
              <a:t>를 활용한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457200">
              <a:lnSpc>
                <a:spcPct val="100000"/>
              </a:lnSpc>
            </a:pPr>
            <a:r>
              <a:rPr b="0" lang="ko-KR" sz="2100" strike="noStrike" u="none">
                <a:solidFill>
                  <a:srgbClr val="ffffff"/>
                </a:solidFill>
                <a:effectLst/>
                <a:uFillTx/>
                <a:latin typeface="Calibri"/>
                <a:ea typeface="Pretendard"/>
              </a:rPr>
              <a:t>지능형 웹 포트폴리오 시스템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"/>
          <p:cNvSpPr/>
          <p:nvPr/>
        </p:nvSpPr>
        <p:spPr>
          <a:xfrm>
            <a:off x="0" y="2340000"/>
            <a:ext cx="8280000" cy="360"/>
          </a:xfrm>
          <a:prstGeom prst="line">
            <a:avLst/>
          </a:prstGeom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그림 2" descr="스크린샷, 컴퓨터, 텍스트, 노트북이(가) 표시된 사진&#10;&#10;자동 생성된 설명"/>
          <p:cNvPicPr/>
          <p:nvPr/>
        </p:nvPicPr>
        <p:blipFill>
          <a:blip r:embed="rId1">
            <a:grayscl/>
          </a:blip>
          <a:stretch/>
        </p:blipFill>
        <p:spPr>
          <a:xfrm>
            <a:off x="0" y="0"/>
            <a:ext cx="12189240" cy="68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"/>
          <p:cNvSpPr/>
          <p:nvPr/>
        </p:nvSpPr>
        <p:spPr>
          <a:xfrm>
            <a:off x="602280" y="836280"/>
            <a:ext cx="424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01.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602280" y="1356840"/>
            <a:ext cx="38944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5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프로젝트 개요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80" name="직선 연결선 4"/>
          <p:cNvCxnSpPr/>
          <p:nvPr/>
        </p:nvCxnSpPr>
        <p:spPr>
          <a:xfrm>
            <a:off x="668880" y="1244160"/>
            <a:ext cx="1017720" cy="2880"/>
          </a:xfrm>
          <a:prstGeom prst="straightConnector1">
            <a:avLst/>
          </a:prstGeom>
          <a:ln w="0">
            <a:solidFill>
              <a:srgbClr val="262626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사각형: 둥근 모서리 20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01.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1764000" y="436320"/>
            <a:ext cx="1690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포트폴리오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60000" y="1258200"/>
            <a:ext cx="11389680" cy="50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360000" y="1440000"/>
            <a:ext cx="5397840" cy="4677840"/>
          </a:xfrm>
          <a:prstGeom prst="rect">
            <a:avLst/>
          </a:prstGeom>
          <a:solidFill>
            <a:srgbClr val="ffffff"/>
          </a:solidFill>
          <a:ln w="1260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480" rIns="78480" tIns="33480" bIns="3348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86" name="사각형: 둥근 모서리 8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01.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1764000" y="436320"/>
            <a:ext cx="2148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프로젝트 개요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540000" y="1502640"/>
            <a:ext cx="4895640" cy="437076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90" name=""/>
          <p:cNvSpPr/>
          <p:nvPr/>
        </p:nvSpPr>
        <p:spPr>
          <a:xfrm>
            <a:off x="6120000" y="1440000"/>
            <a:ext cx="4677840" cy="6944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91" name=""/>
          <p:cNvSpPr/>
          <p:nvPr/>
        </p:nvSpPr>
        <p:spPr>
          <a:xfrm>
            <a:off x="2520000" y="6300000"/>
            <a:ext cx="809784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GitHub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을 통해 버전관리를 하고 있으며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Docker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를 통해 배포 및 관리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[CI/CD]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중임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"/>
          <p:cNvSpPr/>
          <p:nvPr/>
        </p:nvSpPr>
        <p:spPr>
          <a:xfrm>
            <a:off x="5760000" y="3600000"/>
            <a:ext cx="1080000" cy="360"/>
          </a:xfrm>
          <a:prstGeom prst="line">
            <a:avLst/>
          </a:prstGeom>
          <a:ln w="36000">
            <a:solidFill>
              <a:srgbClr val="1c1c1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6548760" y="1680480"/>
            <a:ext cx="5510880" cy="371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3"/>
          <a:stretch/>
        </p:blipFill>
        <p:spPr>
          <a:xfrm>
            <a:off x="8737920" y="1680480"/>
            <a:ext cx="3321720" cy="86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4"/>
          <a:stretch/>
        </p:blipFill>
        <p:spPr>
          <a:xfrm>
            <a:off x="1542960" y="4663800"/>
            <a:ext cx="5117040" cy="163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04.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TextBox 16"/>
          <p:cNvSpPr/>
          <p:nvPr/>
        </p:nvSpPr>
        <p:spPr>
          <a:xfrm>
            <a:off x="1764000" y="436320"/>
            <a:ext cx="6757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Kubernetes</a:t>
            </a: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를 통한 자동화된 관리 시스템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99" name=""/>
          <p:cNvSpPr/>
          <p:nvPr/>
        </p:nvSpPr>
        <p:spPr>
          <a:xfrm>
            <a:off x="758160" y="5940000"/>
            <a:ext cx="5899680" cy="8521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400000" y="1164960"/>
            <a:ext cx="6479640" cy="56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900000" y="1820520"/>
            <a:ext cx="3643560" cy="87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540000" y="4680000"/>
            <a:ext cx="4499640" cy="91260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Docker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를 통해 생성된 컨테이너를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Kubernetes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를 통해 체계적으로 관리함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" name=""/>
          <p:cNvSpPr/>
          <p:nvPr/>
        </p:nvSpPr>
        <p:spPr>
          <a:xfrm>
            <a:off x="4860000" y="4140000"/>
            <a:ext cx="540000" cy="360"/>
          </a:xfrm>
          <a:prstGeom prst="line">
            <a:avLst/>
          </a:prstGeom>
          <a:ln w="36000">
            <a:solidFill>
              <a:srgbClr val="1c1c1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900000" y="2880000"/>
            <a:ext cx="3780000" cy="176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사각형: 둥근 모서리 21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02.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TextBox 83"/>
          <p:cNvSpPr/>
          <p:nvPr/>
        </p:nvSpPr>
        <p:spPr>
          <a:xfrm>
            <a:off x="1764000" y="436320"/>
            <a:ext cx="3699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프로젝트 사용 기술 스택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540000" y="1807920"/>
            <a:ext cx="2337840" cy="132696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3060000" y="3067920"/>
            <a:ext cx="3597840" cy="187956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110" name="" descr=""/>
          <p:cNvPicPr/>
          <p:nvPr/>
        </p:nvPicPr>
        <p:blipFill>
          <a:blip r:embed="rId3"/>
          <a:stretch/>
        </p:blipFill>
        <p:spPr>
          <a:xfrm>
            <a:off x="4140000" y="5238000"/>
            <a:ext cx="2649600" cy="87984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111" name="" descr=""/>
          <p:cNvPicPr/>
          <p:nvPr/>
        </p:nvPicPr>
        <p:blipFill>
          <a:blip r:embed="rId4"/>
          <a:stretch/>
        </p:blipFill>
        <p:spPr>
          <a:xfrm>
            <a:off x="540000" y="5047920"/>
            <a:ext cx="3729600" cy="124992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112" name="" descr=""/>
          <p:cNvPicPr/>
          <p:nvPr/>
        </p:nvPicPr>
        <p:blipFill>
          <a:blip r:embed="rId5"/>
          <a:stretch/>
        </p:blipFill>
        <p:spPr>
          <a:xfrm>
            <a:off x="900000" y="3329640"/>
            <a:ext cx="2517840" cy="125784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13" name=""/>
          <p:cNvSpPr/>
          <p:nvPr/>
        </p:nvSpPr>
        <p:spPr>
          <a:xfrm>
            <a:off x="900000" y="1627920"/>
            <a:ext cx="4317840" cy="6796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b="1" lang="ko-KR" sz="2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프론트 엔드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"/>
          <p:cNvSpPr/>
          <p:nvPr/>
        </p:nvSpPr>
        <p:spPr>
          <a:xfrm>
            <a:off x="900000" y="3151800"/>
            <a:ext cx="4317840" cy="6796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2. </a:t>
            </a:r>
            <a:r>
              <a:rPr b="1" lang="ko-KR" sz="2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백엔드 및 데이터베이스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" name=""/>
          <p:cNvSpPr/>
          <p:nvPr/>
        </p:nvSpPr>
        <p:spPr>
          <a:xfrm>
            <a:off x="900000" y="4867920"/>
            <a:ext cx="4317840" cy="6796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3.  </a:t>
            </a:r>
            <a:r>
              <a:rPr b="1" lang="ko-KR" sz="2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딥러닝 모델 및 프레임워크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6"/>
          <a:stretch/>
        </p:blipFill>
        <p:spPr>
          <a:xfrm>
            <a:off x="1841400" y="1800000"/>
            <a:ext cx="3376440" cy="112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사각형: 둥근 모서리 28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TextBox 90"/>
          <p:cNvSpPr/>
          <p:nvPr/>
        </p:nvSpPr>
        <p:spPr>
          <a:xfrm>
            <a:off x="1764000" y="436320"/>
            <a:ext cx="6272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시스템 아키텍처</a:t>
            </a:r>
            <a:r>
              <a:rPr b="1" lang="en-US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(Usecase Diagram)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1980360" y="1260000"/>
            <a:ext cx="8097840" cy="5217840"/>
          </a:xfrm>
          <a:prstGeom prst="rect">
            <a:avLst/>
          </a:prstGeom>
          <a:noFill/>
          <a:ln w="3600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980000" y="1080000"/>
            <a:ext cx="8099640" cy="57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사각형: 둥근 모서리 6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3" name="TextBox 13"/>
          <p:cNvSpPr/>
          <p:nvPr/>
        </p:nvSpPr>
        <p:spPr>
          <a:xfrm>
            <a:off x="1764000" y="436320"/>
            <a:ext cx="6534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시스템 아키텍처</a:t>
            </a:r>
            <a:r>
              <a:rPr b="1" lang="en-US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(Sequence Diagram)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사각형: 둥근 모서리 4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1764000" y="436320"/>
            <a:ext cx="23079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DOM / BOM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28" name=""/>
          <p:cNvSpPr/>
          <p:nvPr/>
        </p:nvSpPr>
        <p:spPr>
          <a:xfrm>
            <a:off x="356040" y="1080360"/>
            <a:ext cx="5402160" cy="53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2400" strike="noStrike" u="none">
                <a:solidFill>
                  <a:srgbClr val="000000"/>
                </a:solidFill>
                <a:effectLst/>
                <a:highlight>
                  <a:srgbClr val="e6e905"/>
                </a:highlight>
                <a:uFillTx/>
                <a:latin typeface="맑은 고딕"/>
                <a:ea typeface="Pretendard"/>
              </a:rPr>
              <a:t>BOM (Browser Object Model) </a:t>
            </a:r>
            <a:r>
              <a:rPr b="1" lang="ko-KR" sz="2400" strike="noStrike" u="none">
                <a:solidFill>
                  <a:srgbClr val="000000"/>
                </a:solidFill>
                <a:effectLst/>
                <a:highlight>
                  <a:srgbClr val="e6e905"/>
                </a:highlight>
                <a:uFillTx/>
                <a:latin typeface="맑은 고딕"/>
                <a:ea typeface="Pretendard"/>
              </a:rPr>
              <a:t>영역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브라우저 환경과 직접 상호작용하는 컴포넌트들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1. Navigator API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활용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Webcam/MediaDevices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접근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navigator.mediaDevices.getUserMedia()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로 카메라 권한 획득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GPU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감지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WebGL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지원 확인 및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TensorFlow.js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백엔드 설정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User Agent: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브라우저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/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디바이스 특성 파악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2. Window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객체 활용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Performance API: FPS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측정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추론 시간 모니터링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LocalStorage/SessionStorage: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사용자 세션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설정 저장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WebGL Context: GPU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가속 렌더링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3. Location/History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SPA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라우팅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React Router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를 통한 클라이언트 사이드 네비게이션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세션 관리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URL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상태 기반 컨텍스트 유지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4. Timing APIs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requestAnimationFrame: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실시간 객체 감지 루프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Performance.now():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정밀 시간 측정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"/>
          <p:cNvSpPr/>
          <p:nvPr/>
        </p:nvSpPr>
        <p:spPr>
          <a:xfrm>
            <a:off x="6374880" y="1068840"/>
            <a:ext cx="6043320" cy="50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1" lang="en-US" sz="2400" strike="noStrike" u="none">
                <a:solidFill>
                  <a:srgbClr val="000000"/>
                </a:solidFill>
                <a:effectLst/>
                <a:highlight>
                  <a:srgbClr val="e6e905"/>
                </a:highlight>
                <a:uFillTx/>
                <a:latin typeface="맑은 고딕"/>
                <a:ea typeface="Pretendard"/>
              </a:rPr>
              <a:t>DOM (Document Object Model) </a:t>
            </a:r>
            <a:r>
              <a:rPr b="1" lang="ko-KR" sz="2400" strike="noStrike" u="none">
                <a:solidFill>
                  <a:srgbClr val="000000"/>
                </a:solidFill>
                <a:effectLst/>
                <a:highlight>
                  <a:srgbClr val="e6e905"/>
                </a:highlight>
                <a:uFillTx/>
                <a:latin typeface="맑은 고딕"/>
                <a:ea typeface="Pretendard"/>
              </a:rPr>
              <a:t>영역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문서 구조와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UI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렌더링을 담당하는 컴포넌트들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1. React Virtual DOM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컴포넌트 트리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UI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상태 관리 및 효율적 리렌더링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이벤트 핸들링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사용자 인터랙션 처리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2. Canvas/Video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요소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Video Element: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웹캠 스트림 렌더링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Canvas Overlay: YOLO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바운딩 박스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라벨 그리기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동적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DOM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조작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감지된 객체에 따른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UI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업데이트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3. Form/Input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요소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사용자 입력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설정 변경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검색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필터링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실시간 유효성 검사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TypeScript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타입 가드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4. Dynamic Content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추천 시스템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UI: MongoDB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데이터 기반 동적 렌더링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통계 대시보드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차트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/</a:t>
            </a:r>
            <a:r>
              <a:rPr b="0" lang="ko-KR" sz="14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그래프 실시간 업데이트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6120000" y="1080000"/>
            <a:ext cx="360" cy="55976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그림 1" descr="스크린샷, 컴퓨터, 텍스트, 노트북이(가) 표시된 사진&#10;&#10;자동 생성된 설명"/>
          <p:cNvPicPr/>
          <p:nvPr/>
        </p:nvPicPr>
        <p:blipFill>
          <a:blip r:embed="rId1">
            <a:grayscl/>
          </a:blip>
          <a:stretch/>
        </p:blipFill>
        <p:spPr>
          <a:xfrm>
            <a:off x="0" y="0"/>
            <a:ext cx="12189240" cy="68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6"/>
          <p:cNvSpPr/>
          <p:nvPr/>
        </p:nvSpPr>
        <p:spPr>
          <a:xfrm>
            <a:off x="602280" y="836280"/>
            <a:ext cx="45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02.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602280" y="1356840"/>
            <a:ext cx="7174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5400" strike="noStrike" u="none">
                <a:solidFill>
                  <a:schemeClr val="dk1"/>
                </a:solidFill>
                <a:effectLst/>
                <a:uFillTx/>
                <a:latin typeface="Pretendard"/>
                <a:ea typeface="Pretendard"/>
              </a:rPr>
              <a:t>소스코드 및 프로젝트 시연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134" name="직선 연결선 2"/>
          <p:cNvCxnSpPr/>
          <p:nvPr/>
        </p:nvCxnSpPr>
        <p:spPr>
          <a:xfrm>
            <a:off x="668880" y="1244160"/>
            <a:ext cx="1017720" cy="2880"/>
          </a:xfrm>
          <a:prstGeom prst="straightConnector1">
            <a:avLst/>
          </a:prstGeom>
          <a:ln w="0">
            <a:solidFill>
              <a:srgbClr val="262626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938880" y="1293120"/>
            <a:ext cx="6261120" cy="53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사각형: 둥근 모서리 2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7435440" y="3597840"/>
            <a:ext cx="4325400" cy="202824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40" name=""/>
          <p:cNvSpPr/>
          <p:nvPr/>
        </p:nvSpPr>
        <p:spPr>
          <a:xfrm>
            <a:off x="7200000" y="5628240"/>
            <a:ext cx="4865760" cy="8517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실행중인 웹캠의 한 프레임을 캡쳐해 복사함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999999"/>
                </a:solidFill>
                <a:effectLst/>
                <a:uFillTx/>
                <a:latin typeface="Pretendard"/>
                <a:ea typeface="Pretendard"/>
              </a:rPr>
              <a:t>[</a:t>
            </a:r>
            <a:r>
              <a:rPr b="1" lang="ko-KR" sz="1400" strike="noStrike" u="none">
                <a:solidFill>
                  <a:srgbClr val="999999"/>
                </a:solidFill>
                <a:effectLst/>
                <a:uFillTx/>
                <a:latin typeface="Pretendard"/>
                <a:ea typeface="Pretendard"/>
              </a:rPr>
              <a:t>즉</a:t>
            </a:r>
            <a:r>
              <a:rPr b="1" lang="en-US" sz="1400" strike="noStrike" u="none">
                <a:solidFill>
                  <a:srgbClr val="99999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1" lang="ko-KR" sz="1400" strike="noStrike" u="none">
                <a:solidFill>
                  <a:srgbClr val="999999"/>
                </a:solidFill>
                <a:effectLst/>
                <a:uFillTx/>
                <a:latin typeface="Pretendard"/>
                <a:ea typeface="Pretendard"/>
              </a:rPr>
              <a:t>촬영 중인 웹캠의 한 프레임을 사용자의 인풋 데이터로 인식함</a:t>
            </a:r>
            <a:r>
              <a:rPr b="1" lang="en-US" sz="1400" strike="noStrike" u="none">
                <a:solidFill>
                  <a:srgbClr val="999999"/>
                </a:solidFill>
                <a:effectLst/>
                <a:uFillTx/>
                <a:latin typeface="Pretendard"/>
                <a:ea typeface="Pretendard"/>
              </a:rPr>
              <a:t>.]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"/>
          <p:cNvSpPr/>
          <p:nvPr/>
        </p:nvSpPr>
        <p:spPr>
          <a:xfrm>
            <a:off x="7608960" y="2061720"/>
            <a:ext cx="427104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성능에 대한 대시보드를 시각적으로         표시함과 동시에 실시간으로 갱신함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"/>
          <p:cNvSpPr/>
          <p:nvPr/>
        </p:nvSpPr>
        <p:spPr>
          <a:xfrm>
            <a:off x="6120000" y="4320000"/>
            <a:ext cx="162000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43" name=""/>
          <p:cNvSpPr/>
          <p:nvPr/>
        </p:nvSpPr>
        <p:spPr>
          <a:xfrm>
            <a:off x="6300000" y="2340000"/>
            <a:ext cx="126000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사각형: 둥근 모서리 23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Box 85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3600000" y="1211040"/>
            <a:ext cx="5037840" cy="111780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48" name=""/>
          <p:cNvSpPr/>
          <p:nvPr/>
        </p:nvSpPr>
        <p:spPr>
          <a:xfrm>
            <a:off x="3060000" y="2331000"/>
            <a:ext cx="6837840" cy="9068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3.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이미지를 전처리하여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Tensor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가 분석할 수 있는 형태로 변환함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"/>
          <p:cNvSpPr/>
          <p:nvPr/>
        </p:nvSpPr>
        <p:spPr>
          <a:xfrm>
            <a:off x="5940000" y="2700000"/>
            <a:ext cx="360" cy="540000"/>
          </a:xfrm>
          <a:prstGeom prst="line">
            <a:avLst/>
          </a:prstGeom>
          <a:ln w="36000">
            <a:solidFill>
              <a:srgbClr val="1c1c1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1080000" y="3240000"/>
            <a:ext cx="5037840" cy="168912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51" name=""/>
          <p:cNvSpPr/>
          <p:nvPr/>
        </p:nvSpPr>
        <p:spPr>
          <a:xfrm>
            <a:off x="360000" y="4496400"/>
            <a:ext cx="6117840" cy="181440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MobileNet &amp; BlazeFace &amp; MediaPipe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등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사전 학습된 모델을 사용하여 각 모델의 예측값을 추출함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[</a:t>
            </a:r>
            <a:r>
              <a:rPr b="1" lang="ko-KR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현재 기본 </a:t>
            </a:r>
            <a:r>
              <a:rPr b="1" lang="en-US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YOLOv8 </a:t>
            </a:r>
            <a:r>
              <a:rPr b="1" lang="ko-KR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모델만 사용중이나</a:t>
            </a:r>
            <a:r>
              <a:rPr b="1" lang="en-US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1" lang="ko-KR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최종 제출본에는 모두 추가해둘 예정임</a:t>
            </a:r>
            <a:r>
              <a:rPr b="1" lang="en-US" sz="1400" strike="noStrike" u="none">
                <a:solidFill>
                  <a:srgbClr val="cccccc"/>
                </a:solidFill>
                <a:effectLst/>
                <a:uFillTx/>
                <a:latin typeface="Pretendard"/>
                <a:ea typeface="Pretendard"/>
              </a:rPr>
              <a:t>]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6660000" y="3240000"/>
            <a:ext cx="4497840" cy="3237840"/>
          </a:xfrm>
          <a:prstGeom prst="rect">
            <a:avLst/>
          </a:prstGeom>
          <a:noFill/>
          <a:ln w="3600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사각형: 둥근 모서리 25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Box 87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2066040" y="1242360"/>
            <a:ext cx="4039560" cy="541764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57" name=""/>
          <p:cNvSpPr/>
          <p:nvPr/>
        </p:nvSpPr>
        <p:spPr>
          <a:xfrm>
            <a:off x="6480000" y="3599640"/>
            <a:ext cx="72000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58" name=""/>
          <p:cNvSpPr/>
          <p:nvPr/>
        </p:nvSpPr>
        <p:spPr>
          <a:xfrm>
            <a:off x="6840000" y="4763880"/>
            <a:ext cx="4317840" cy="63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"/>
          <p:cNvSpPr/>
          <p:nvPr/>
        </p:nvSpPr>
        <p:spPr>
          <a:xfrm>
            <a:off x="6840000" y="5220000"/>
            <a:ext cx="4680000" cy="63900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4.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웹캠 스트리밍 영역에 바운딩박스를 통해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각 객체의 분석 결과와 신뢰도를 표시함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7549920" y="1602360"/>
            <a:ext cx="3070080" cy="343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사각형: 둥근 모서리 26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TextBox 88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540000" y="1440000"/>
            <a:ext cx="3855600" cy="379836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65" name=""/>
          <p:cNvSpPr/>
          <p:nvPr/>
        </p:nvSpPr>
        <p:spPr>
          <a:xfrm>
            <a:off x="360000" y="5231520"/>
            <a:ext cx="4137840" cy="9068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5.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프론트엔드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api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는 분석 결과를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.json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형태로 변환하여 백엔드로 반환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"/>
          <p:cNvSpPr/>
          <p:nvPr/>
        </p:nvSpPr>
        <p:spPr>
          <a:xfrm>
            <a:off x="4500000" y="3060000"/>
            <a:ext cx="72000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2"/>
          <a:stretch/>
        </p:blipFill>
        <p:spPr>
          <a:xfrm>
            <a:off x="5241600" y="2160000"/>
            <a:ext cx="2676240" cy="133704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168" name="" descr=""/>
          <p:cNvPicPr/>
          <p:nvPr/>
        </p:nvPicPr>
        <p:blipFill>
          <a:blip r:embed="rId3"/>
          <a:stretch/>
        </p:blipFill>
        <p:spPr>
          <a:xfrm>
            <a:off x="5580000" y="3288240"/>
            <a:ext cx="1648800" cy="102960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69" name=""/>
          <p:cNvSpPr/>
          <p:nvPr/>
        </p:nvSpPr>
        <p:spPr>
          <a:xfrm>
            <a:off x="7890840" y="3060000"/>
            <a:ext cx="72000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70" name=""/>
          <p:cNvSpPr/>
          <p:nvPr/>
        </p:nvSpPr>
        <p:spPr>
          <a:xfrm>
            <a:off x="4397760" y="3960000"/>
            <a:ext cx="4137840" cy="91260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6. Node.js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및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Express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를 통한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비즈니스 로직을 거친 후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최종 결과값은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다음과 같은 간단한 형태가 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4"/>
          <a:stretch/>
        </p:blipFill>
        <p:spPr>
          <a:xfrm>
            <a:off x="8610840" y="1980000"/>
            <a:ext cx="3447000" cy="2337840"/>
          </a:xfrm>
          <a:prstGeom prst="rect">
            <a:avLst/>
          </a:prstGeom>
          <a:noFill/>
          <a:ln w="3600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사각형: 둥근 모서리 27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TextBox 89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720000" y="1324800"/>
            <a:ext cx="3608640" cy="515304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3430800" y="3060000"/>
            <a:ext cx="2905200" cy="185364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77" name=""/>
          <p:cNvSpPr/>
          <p:nvPr/>
        </p:nvSpPr>
        <p:spPr>
          <a:xfrm>
            <a:off x="1119960" y="6167520"/>
            <a:ext cx="5899680" cy="8517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7.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각 사용자의 실시간 데이터는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Session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별로 구분되어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MongoDB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내의 클러스터에 저장됨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3"/>
          <a:stretch/>
        </p:blipFill>
        <p:spPr>
          <a:xfrm>
            <a:off x="6660000" y="1757520"/>
            <a:ext cx="5122440" cy="4360320"/>
          </a:xfrm>
          <a:prstGeom prst="rect">
            <a:avLst/>
          </a:prstGeom>
          <a:noFill/>
          <a:ln w="36000">
            <a:noFill/>
          </a:ln>
        </p:spPr>
      </p:pic>
      <p:sp>
        <p:nvSpPr>
          <p:cNvPr id="179" name=""/>
          <p:cNvSpPr/>
          <p:nvPr/>
        </p:nvSpPr>
        <p:spPr>
          <a:xfrm>
            <a:off x="6270840" y="3959640"/>
            <a:ext cx="38916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사각형: 둥근 모서리 3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83" name=""/>
          <p:cNvSpPr/>
          <p:nvPr/>
        </p:nvSpPr>
        <p:spPr>
          <a:xfrm>
            <a:off x="758160" y="5940000"/>
            <a:ext cx="5899680" cy="8521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1980000" y="1602360"/>
            <a:ext cx="8073000" cy="28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"/>
          <p:cNvSpPr/>
          <p:nvPr/>
        </p:nvSpPr>
        <p:spPr>
          <a:xfrm>
            <a:off x="3240000" y="4860000"/>
            <a:ext cx="5899680" cy="8517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8. M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ongoDB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를 사용해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각 세션 별로 기록된 데이터를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확인 및 관리할 수 있음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[CRWD]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180000" y="2345400"/>
            <a:ext cx="5553000" cy="215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사각형: 둥근 모서리 1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1764000" y="436320"/>
            <a:ext cx="429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실제 시연 화면 및 작동 방식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90" name=""/>
          <p:cNvSpPr/>
          <p:nvPr/>
        </p:nvSpPr>
        <p:spPr>
          <a:xfrm>
            <a:off x="758160" y="5940000"/>
            <a:ext cx="5899680" cy="8521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91" name=""/>
          <p:cNvSpPr/>
          <p:nvPr/>
        </p:nvSpPr>
        <p:spPr>
          <a:xfrm>
            <a:off x="3240000" y="6120000"/>
            <a:ext cx="5899680" cy="8517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8. MySQL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을 사용해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개별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User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의 권한과 데이터를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세부적으로 관리할 수 있음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6120000" y="1134360"/>
            <a:ext cx="6299640" cy="480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"/>
          <p:cNvSpPr/>
          <p:nvPr/>
        </p:nvSpPr>
        <p:spPr>
          <a:xfrm>
            <a:off x="5910840" y="3599640"/>
            <a:ext cx="389160" cy="36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사각형: 둥근 모서리 5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05.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1764000" y="436320"/>
            <a:ext cx="2746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평가 및 기대 효과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197" name="직사각형 4"/>
          <p:cNvSpPr/>
          <p:nvPr/>
        </p:nvSpPr>
        <p:spPr>
          <a:xfrm>
            <a:off x="738000" y="1980000"/>
            <a:ext cx="3349080" cy="26978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retendard"/>
              <a:ea typeface="Pretendard"/>
            </a:endParaRPr>
          </a:p>
        </p:txBody>
      </p:sp>
      <p:sp>
        <p:nvSpPr>
          <p:cNvPr id="198" name="직사각형 5"/>
          <p:cNvSpPr/>
          <p:nvPr/>
        </p:nvSpPr>
        <p:spPr>
          <a:xfrm>
            <a:off x="4363200" y="1980000"/>
            <a:ext cx="3349440" cy="269784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retendard"/>
              <a:ea typeface="Pretendard"/>
            </a:endParaRPr>
          </a:p>
        </p:txBody>
      </p:sp>
      <p:sp>
        <p:nvSpPr>
          <p:cNvPr id="199" name="직사각형 6"/>
          <p:cNvSpPr/>
          <p:nvPr/>
        </p:nvSpPr>
        <p:spPr>
          <a:xfrm>
            <a:off x="7988760" y="1980000"/>
            <a:ext cx="3349080" cy="26978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retendard"/>
              <a:ea typeface="Pretendard"/>
            </a:endParaRPr>
          </a:p>
        </p:txBody>
      </p:sp>
      <p:sp>
        <p:nvSpPr>
          <p:cNvPr id="200" name=""/>
          <p:cNvSpPr/>
          <p:nvPr/>
        </p:nvSpPr>
        <p:spPr>
          <a:xfrm>
            <a:off x="1260000" y="5220000"/>
            <a:ext cx="2160000" cy="360"/>
          </a:xfrm>
          <a:prstGeom prst="line">
            <a:avLst/>
          </a:prstGeom>
          <a:ln w="1008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rIns="77400" tIns="-32400" bIns="-32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201" name=""/>
          <p:cNvSpPr/>
          <p:nvPr/>
        </p:nvSpPr>
        <p:spPr>
          <a:xfrm>
            <a:off x="4860000" y="5220000"/>
            <a:ext cx="2160000" cy="360"/>
          </a:xfrm>
          <a:prstGeom prst="line">
            <a:avLst/>
          </a:prstGeom>
          <a:ln w="1008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rIns="77400" tIns="-32400" bIns="-32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202" name=""/>
          <p:cNvSpPr/>
          <p:nvPr/>
        </p:nvSpPr>
        <p:spPr>
          <a:xfrm>
            <a:off x="1029240" y="4703400"/>
            <a:ext cx="305784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1. Full-Stack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개발 역량 시연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"/>
          <p:cNvSpPr/>
          <p:nvPr/>
        </p:nvSpPr>
        <p:spPr>
          <a:xfrm>
            <a:off x="8460000" y="4703400"/>
            <a:ext cx="2337840" cy="36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3.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차별화된 포트폴리오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"/>
          <p:cNvSpPr/>
          <p:nvPr/>
        </p:nvSpPr>
        <p:spPr>
          <a:xfrm>
            <a:off x="5040000" y="4703400"/>
            <a:ext cx="1797840" cy="3639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2.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실시간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AI </a:t>
            </a:r>
            <a:r>
              <a:rPr b="1" lang="ko-KR" sz="18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통합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"/>
          <p:cNvSpPr/>
          <p:nvPr/>
        </p:nvSpPr>
        <p:spPr>
          <a:xfrm>
            <a:off x="8460000" y="5220000"/>
            <a:ext cx="2340000" cy="360"/>
          </a:xfrm>
          <a:prstGeom prst="line">
            <a:avLst/>
          </a:prstGeom>
          <a:ln w="10080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rIns="77400" tIns="-32400" bIns="-32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sp>
        <p:nvSpPr>
          <p:cNvPr id="206" name=""/>
          <p:cNvSpPr/>
          <p:nvPr/>
        </p:nvSpPr>
        <p:spPr>
          <a:xfrm>
            <a:off x="849240" y="5220000"/>
            <a:ext cx="3237840" cy="10040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ML </a:t>
            </a: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활용 및 웹 개발 역량을 동시에 증명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단순 정적 페이지가 아닌 반응형 </a:t>
            </a: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UI</a:t>
            </a: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와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지능형 시스템을 통해 실무에 적용 가능한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기술 스택을 시연하고자 함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"/>
          <p:cNvSpPr/>
          <p:nvPr/>
        </p:nvSpPr>
        <p:spPr>
          <a:xfrm>
            <a:off x="4341240" y="5220000"/>
            <a:ext cx="3216600" cy="12326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TensorFlow</a:t>
            </a: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를 기반으로 하여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브라우저 내에서 모델 실행</a:t>
            </a: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사용자의 </a:t>
            </a:r>
            <a:r>
              <a:rPr b="0" lang="en-US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Device[GPU]</a:t>
            </a: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를 활용하여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서버의 부담을 줄이고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오프라인 상태에서도 시연 가능하게 함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"/>
          <p:cNvSpPr/>
          <p:nvPr/>
        </p:nvSpPr>
        <p:spPr>
          <a:xfrm>
            <a:off x="8100000" y="5220000"/>
            <a:ext cx="3216600" cy="7743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개발자의 기술적 역량을 직접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시험해볼 수 있는 플랫폼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</a:pPr>
            <a:r>
              <a:rPr b="0" lang="ko-KR" sz="1500" strike="noStrike" u="none">
                <a:solidFill>
                  <a:srgbClr val="666666"/>
                </a:solidFill>
                <a:effectLst/>
                <a:uFillTx/>
                <a:latin typeface="Pretendard"/>
                <a:ea typeface="Pretendard"/>
              </a:rPr>
              <a:t>면접관에게 강력한 인상을 제공할 수 있음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080000" y="1885320"/>
            <a:ext cx="2565360" cy="281592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210" name="" descr=""/>
          <p:cNvPicPr/>
          <p:nvPr/>
        </p:nvPicPr>
        <p:blipFill>
          <a:blip r:embed="rId2"/>
          <a:stretch/>
        </p:blipFill>
        <p:spPr>
          <a:xfrm>
            <a:off x="5040000" y="2340000"/>
            <a:ext cx="1977840" cy="189576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211" name="" descr=""/>
          <p:cNvPicPr/>
          <p:nvPr/>
        </p:nvPicPr>
        <p:blipFill>
          <a:blip r:embed="rId3"/>
          <a:stretch/>
        </p:blipFill>
        <p:spPr>
          <a:xfrm>
            <a:off x="8460000" y="1980000"/>
            <a:ext cx="2534400" cy="2517840"/>
          </a:xfrm>
          <a:prstGeom prst="rect">
            <a:avLst/>
          </a:prstGeom>
          <a:noFill/>
          <a:ln w="3600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사각형: 둥근 모서리 7"/>
          <p:cNvSpPr/>
          <p:nvPr/>
        </p:nvSpPr>
        <p:spPr>
          <a:xfrm>
            <a:off x="495360" y="419040"/>
            <a:ext cx="983520" cy="431280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05.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TextBox 14"/>
          <p:cNvSpPr/>
          <p:nvPr/>
        </p:nvSpPr>
        <p:spPr>
          <a:xfrm>
            <a:off x="1764000" y="436320"/>
            <a:ext cx="2746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Pretendard"/>
                <a:ea typeface="Pretendard"/>
              </a:rPr>
              <a:t>평가 및 기대 효과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"/>
          <p:cNvSpPr/>
          <p:nvPr/>
        </p:nvSpPr>
        <p:spPr>
          <a:xfrm>
            <a:off x="0" y="1080000"/>
            <a:ext cx="82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  <a:ea typeface="Pretendard"/>
            </a:endParaRPr>
          </a:p>
        </p:txBody>
      </p:sp>
      <p:graphicFrame>
        <p:nvGraphicFramePr>
          <p:cNvPr id="215" name=""/>
          <p:cNvGraphicFramePr/>
          <p:nvPr/>
        </p:nvGraphicFramePr>
        <p:xfrm>
          <a:off x="0" y="1860840"/>
          <a:ext cx="10608480" cy="3051000"/>
        </p:xfrm>
        <a:graphic>
          <a:graphicData uri="http://schemas.openxmlformats.org/drawingml/2006/table">
            <a:tbl>
              <a:tblPr/>
              <a:tblGrid>
                <a:gridCol w="493920"/>
                <a:gridCol w="491040"/>
                <a:gridCol w="535680"/>
                <a:gridCol w="668160"/>
                <a:gridCol w="754560"/>
                <a:gridCol w="482400"/>
                <a:gridCol w="480600"/>
                <a:gridCol w="834120"/>
                <a:gridCol w="1143000"/>
                <a:gridCol w="1259280"/>
                <a:gridCol w="1128960"/>
                <a:gridCol w="1156680"/>
                <a:gridCol w="1180440"/>
              </a:tblGrid>
              <a:tr h="621000">
                <a:tc gridSpan="5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Tx/>
                          <a:latin typeface="휴먼고딕"/>
                        </a:rPr>
                        <a:t>/UX-Browser(View)1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Tx/>
                          <a:latin typeface="휴먼고딕"/>
                        </a:rPr>
                        <a:t>Git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14" strike="noStrike" u="sng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웹 호스팅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</a:pPr>
                      <a:r>
                        <a:rPr b="1" lang="en-US" sz="1800" spc="-79" strike="noStrike" u="none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Tx/>
                          <a:latin typeface="휴먼고딕"/>
                        </a:rPr>
                        <a:t>Server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</a:pPr>
                      <a:r>
                        <a:rPr b="1" lang="en-US" sz="1800" spc="-79" strike="noStrike" u="none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Tx/>
                          <a:latin typeface="휴먼고딕"/>
                        </a:rPr>
                        <a:t>DB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trike="noStrike" u="sng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통합 및 배포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trike="noStrike" u="sng">
                          <a:solidFill>
                            <a:srgbClr val="000000"/>
                          </a:solidFill>
                          <a:effectLst/>
                          <a:highlight>
                            <a:srgbClr val="e6e905"/>
                          </a:highlight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콘테이너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82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4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DOM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4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BOM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4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image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31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전체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31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파일 수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85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코드의 힘 기능 추가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14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버전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14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관리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14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회수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14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협업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800" spc="-14" strike="noStrike" u="sng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명수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4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  <a:ea typeface="휴먼고딕"/>
                        </a:rPr>
                        <a:t> github page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37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Node.js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37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(Design Pattern)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MySQL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(Data model)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MongoDB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(Data Model)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</a:pPr>
                      <a:r>
                        <a:rPr b="1" lang="en-US" sz="1200" spc="-79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Ci/CD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</a:pPr>
                      <a:r>
                        <a:rPr b="1" lang="en-US" sz="1200" spc="-79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Docker/Kubernetes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17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O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O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1Sec</a:t>
                      </a:r>
                      <a:r>
                        <a:rPr b="0" lang="ko-KR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당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30</a:t>
                      </a:r>
                      <a:r>
                        <a:rPr b="0" lang="ko-KR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개 이미지 처리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25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31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32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1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ko-KR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예정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O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O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 O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O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O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6" name=""/>
          <p:cNvGraphicFramePr/>
          <p:nvPr/>
        </p:nvGraphicFramePr>
        <p:xfrm>
          <a:off x="10620000" y="1861920"/>
          <a:ext cx="1562760" cy="2818440"/>
        </p:xfrm>
        <a:graphic>
          <a:graphicData uri="http://schemas.openxmlformats.org/drawingml/2006/table">
            <a:tbl>
              <a:tblPr/>
              <a:tblGrid>
                <a:gridCol w="1563120"/>
              </a:tblGrid>
              <a:tr h="895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ko-KR" sz="1600" strike="noStrike" u="sng">
                          <a:solidFill>
                            <a:srgbClr val="000000"/>
                          </a:solidFill>
                          <a:effectLst/>
                          <a:highlight>
                            <a:srgbClr val="ffd7d7"/>
                          </a:highlight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딥러닝 </a:t>
                      </a:r>
                      <a:r>
                        <a:rPr b="0" lang="en-US" sz="1600" strike="noStrike" u="sng">
                          <a:solidFill>
                            <a:srgbClr val="000000"/>
                          </a:solidFill>
                          <a:effectLst/>
                          <a:highlight>
                            <a:srgbClr val="ffd7d7"/>
                          </a:highlight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/ AI / </a:t>
                      </a:r>
                      <a:r>
                        <a:rPr b="0" lang="ko-KR" sz="1600" strike="noStrike" u="sng">
                          <a:solidFill>
                            <a:srgbClr val="000000"/>
                          </a:solidFill>
                          <a:effectLst/>
                          <a:highlight>
                            <a:srgbClr val="ffd7d7"/>
                          </a:highlight>
                          <a:uFill>
                            <a:solidFill>
                              <a:srgbClr val="000000"/>
                            </a:solidFill>
                          </a:uFill>
                          <a:latin typeface="휴먼고딕"/>
                        </a:rPr>
                        <a:t>영상처리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692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87000"/>
                        </a:lnSpc>
                      </a:pPr>
                      <a:r>
                        <a:rPr b="1" lang="en-US" sz="1600" spc="-79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TensorFlow </a:t>
                      </a:r>
                      <a:r>
                        <a:rPr b="1" lang="ko-KR" sz="1600" spc="-79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및 </a:t>
                      </a:r>
                      <a:r>
                        <a:rPr b="1" lang="en-US" sz="1600" spc="-79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휴먼고딕"/>
                        </a:rPr>
                        <a:t>Yolov8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35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맑은 고딕"/>
                        </a:rPr>
                        <a:t>O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5173200" y="2956680"/>
            <a:ext cx="1845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ko-KR" sz="2200" spc="601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감사합니다</a:t>
            </a:r>
            <a:r>
              <a:rPr b="1" lang="en-US" sz="2200" spc="601" strike="noStrike" u="none">
                <a:solidFill>
                  <a:schemeClr val="lt1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5945400" y="3562920"/>
            <a:ext cx="297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맑은 고딕"/>
              <a:ea typeface="Pretendard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18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264e"/>
      </a:accent1>
      <a:accent2>
        <a:srgbClr val="3f668f"/>
      </a:accent2>
      <a:accent3>
        <a:srgbClr val="4a7eca"/>
      </a:accent3>
      <a:accent4>
        <a:srgbClr val="b28659"/>
      </a:accent4>
      <a:accent5>
        <a:srgbClr val="fdc467"/>
      </a:accent5>
      <a:accent6>
        <a:srgbClr val="e5d8c9"/>
      </a:accent6>
      <a:hlink>
        <a:srgbClr val="262626"/>
      </a:hlink>
      <a:folHlink>
        <a:srgbClr val="262626"/>
      </a:folHlink>
    </a:clrScheme>
    <a:fontScheme name="Pretendard_BLACK_M">
      <a:majorFont>
        <a:latin typeface="Pretendard Black" pitchFamily="0" charset="1"/>
        <a:ea typeface="Pretendard Black" pitchFamily="0" charset="1"/>
        <a:cs typeface=""/>
      </a:majorFont>
      <a:minorFont>
        <a:latin typeface="Pretendard" pitchFamily="0" charset="1"/>
        <a:ea typeface="Pretendard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20</Pages>
  <Paragraphs>218</Paragraphs>
  <Words>883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Yu Saebyeol</dc:creator>
  <dc:title>PowerPoint 프레젠테이션</dc:title>
  <dcterms:modified xsi:type="dcterms:W3CDTF">2025-12-09T01:07:57Z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r8>25</vt:r8>
  </property>
</Properties>
</file>